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7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66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912"/>
          </a:solidFill>
          <a:ln w="12700">
            <a:solidFill>
              <a:srgbClr val="06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57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ИССЛЕДОВАНИЕ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Россия — Страна Возможностей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2286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423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Эргашов Амирхон Зоирович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7249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 err="1" smtClean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</a:t>
            </a:r>
            <a:r>
              <a:rPr lang="en-US" sz="1200" dirty="0" smtClean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проекта</a:t>
            </a:r>
            <a:r>
              <a:rPr lang="en-US" sz="1200" dirty="0" smtClean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200" dirty="0" err="1" smtClean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</a:t>
            </a:r>
            <a:r>
              <a:rPr lang="en-US" sz="1200" dirty="0" smtClean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</a:t>
            </a:r>
            <a:r>
              <a:rPr lang="en-US" sz="1200" dirty="0" smtClean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200" dirty="0" err="1" smtClean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</a:t>
            </a:r>
            <a:r>
              <a:rPr lang="en-US" sz="1200" dirty="0" smtClean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сайта</a:t>
            </a:r>
            <a:r>
              <a:rPr lang="ru-RU" sz="1200" dirty="0" smtClean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200" dirty="0" err="1" smtClean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063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Мансуров Бахтиёр Абдурозикович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36499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 проекта · сбор </a:t>
            </a:r>
            <a:r>
              <a:rPr lang="en-US" sz="1200" dirty="0" err="1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</a:t>
            </a: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П-118  ·  ОРГ  ·  ТюмГУ  ·  2026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83680" y="548640"/>
            <a:ext cx="2286000" cy="914400"/>
          </a:xfrm>
          <a:prstGeom prst="rect">
            <a:avLst/>
          </a:prstGeom>
          <a:solidFill>
            <a:srgbClr val="0C102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5943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583680" y="1115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Респондентов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583680" y="1572768"/>
            <a:ext cx="2286000" cy="914400"/>
          </a:xfrm>
          <a:prstGeom prst="rect">
            <a:avLst/>
          </a:prstGeom>
          <a:solidFill>
            <a:srgbClr val="0C102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161848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583680" y="21396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Вопросов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83680" y="2596896"/>
            <a:ext cx="2286000" cy="914400"/>
          </a:xfrm>
          <a:prstGeom prst="rect">
            <a:avLst/>
          </a:prstGeom>
          <a:solidFill>
            <a:srgbClr val="0C102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64261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A9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583680" y="31638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Блоков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583680" y="3621024"/>
            <a:ext cx="2286000" cy="914400"/>
          </a:xfrm>
          <a:prstGeom prst="rect">
            <a:avLst/>
          </a:prstGeom>
          <a:solidFill>
            <a:srgbClr val="0C1020"/>
          </a:solidFill>
          <a:ln w="12700">
            <a:solidFill>
              <a:srgbClr val="5A9E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366674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A9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583680" y="4187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Ср. оценка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912"/>
          </a:solidFill>
          <a:ln w="12700">
            <a:solidFill>
              <a:srgbClr val="06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 ГИПОТЕЗА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Цель и гипотеза исследования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3931920" cy="3383280"/>
          </a:xfrm>
          <a:prstGeom prst="rect">
            <a:avLst/>
          </a:prstGeom>
          <a:solidFill>
            <a:srgbClr val="0C102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Цель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Изучить, как молодёжь Тюмени воспринимает возможности в современной России — в сфере образования, карьеры и </a:t>
            </a:r>
            <a:r>
              <a:rPr lang="en-US" sz="1300" dirty="0" err="1" smtClean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предпринимательства</a:t>
            </a:r>
            <a:r>
              <a:rPr lang="en-US" sz="1300" dirty="0" smtClean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ru-RU" sz="1300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300" dirty="0" smtClean="0">
                <a:solidFill>
                  <a:schemeClr val="bg1"/>
                </a:solidFill>
              </a:rPr>
              <a:t>Узнать</a:t>
            </a:r>
            <a:r>
              <a:rPr lang="ru-RU" sz="1300" dirty="0">
                <a:solidFill>
                  <a:schemeClr val="bg1"/>
                </a:solidFill>
              </a:rPr>
              <a:t>, какие возможности молодёжь считает реальными в современной </a:t>
            </a:r>
            <a:r>
              <a:rPr lang="ru-RU" sz="1300" dirty="0" smtClean="0">
                <a:solidFill>
                  <a:schemeClr val="bg1"/>
                </a:solidFill>
              </a:rPr>
              <a:t>России. Понять</a:t>
            </a:r>
            <a:r>
              <a:rPr lang="ru-RU" sz="1300" dirty="0">
                <a:solidFill>
                  <a:schemeClr val="bg1"/>
                </a:solidFill>
              </a:rPr>
              <a:t>, что мешает молодым людям реализовать свой </a:t>
            </a:r>
            <a:r>
              <a:rPr lang="ru-RU" sz="1300" dirty="0" smtClean="0">
                <a:solidFill>
                  <a:schemeClr val="bg1"/>
                </a:solidFill>
              </a:rPr>
              <a:t>потенциал.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114800" cy="3383280"/>
          </a:xfrm>
          <a:prstGeom prst="rect">
            <a:avLst/>
          </a:prstGeom>
          <a:solidFill>
            <a:srgbClr val="0C1020"/>
          </a:solidFill>
          <a:ln w="12700">
            <a:solidFill>
              <a:srgbClr val="E8C9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4173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Гипотеза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87452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00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Россия предоставляет возможности, но их доступность неравномерна — особенно в сфере IT и по регионам </a:t>
            </a:r>
            <a:r>
              <a:rPr lang="en-US" sz="1300" dirty="0" err="1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страны</a:t>
            </a:r>
            <a:r>
              <a:rPr lang="en-US" sz="1300" dirty="0" smtClean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ru-RU" sz="1300" dirty="0" smtClean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300" dirty="0">
                <a:solidFill>
                  <a:schemeClr val="bg2"/>
                </a:solidFill>
              </a:rPr>
              <a:t>Россия даёт шансы, но не всем одинаково — зависит от региона и сферы. </a:t>
            </a:r>
            <a:r>
              <a:rPr lang="ru-RU" sz="1300" dirty="0" smtClean="0">
                <a:solidFill>
                  <a:schemeClr val="bg2"/>
                </a:solidFill>
              </a:rPr>
              <a:t>Большинство </a:t>
            </a:r>
            <a:r>
              <a:rPr lang="ru-RU" sz="1300" dirty="0">
                <a:solidFill>
                  <a:schemeClr val="bg2"/>
                </a:solidFill>
              </a:rPr>
              <a:t>молодых людей хотят остаться и строить будущее </a:t>
            </a:r>
            <a:r>
              <a:rPr lang="ru-RU" sz="1300" dirty="0" smtClean="0">
                <a:solidFill>
                  <a:schemeClr val="bg2"/>
                </a:solidFill>
              </a:rPr>
              <a:t>здесь.</a:t>
            </a:r>
            <a:endParaRPr lang="en-US" sz="13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912"/>
          </a:solidFill>
          <a:ln w="12700">
            <a:solidFill>
              <a:srgbClr val="06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МЕТОДОЛОГИЯ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Методология исследования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8412480" cy="475488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258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51760" y="132588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Онлайн-анкетирование (Google Forms)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764792"/>
            <a:ext cx="8412480" cy="475488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562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Аудитория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1856232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Молодёжь 14–22 лет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295144"/>
            <a:ext cx="8412480" cy="475488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38658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51760" y="2386584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2025–2026 учебный год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825496"/>
            <a:ext cx="8412480" cy="475488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1693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Анонимность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2916936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Гарантирована</a:t>
            </a:r>
            <a:endParaRPr lang="en-US" sz="11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65760" y="3355848"/>
            <a:ext cx="8412480" cy="475488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44728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51760" y="344728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респондента · 18 вопросов · 5 блоков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9593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Блоки анкеты: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4297680"/>
            <a:ext cx="1609344" cy="777240"/>
          </a:xfrm>
          <a:prstGeom prst="rect">
            <a:avLst/>
          </a:prstGeom>
          <a:solidFill>
            <a:srgbClr val="0C102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315968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11480" y="4599432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Портрет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020824" y="4297680"/>
            <a:ext cx="1609344" cy="777240"/>
          </a:xfrm>
          <a:prstGeom prst="rect">
            <a:avLst/>
          </a:prstGeom>
          <a:solidFill>
            <a:srgbClr val="0C102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20824" y="4315968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066544" y="4599432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Образование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75888" y="4297680"/>
            <a:ext cx="1609344" cy="777240"/>
          </a:xfrm>
          <a:prstGeom prst="rect">
            <a:avLst/>
          </a:prstGeom>
          <a:solidFill>
            <a:srgbClr val="0C102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75888" y="4315968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721608" y="4599432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Карьера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330952" y="4297680"/>
            <a:ext cx="1609344" cy="777240"/>
          </a:xfrm>
          <a:prstGeom prst="rect">
            <a:avLst/>
          </a:prstGeom>
          <a:solidFill>
            <a:srgbClr val="0C102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30952" y="4315968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76672" y="4599432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986016" y="4297680"/>
            <a:ext cx="1609344" cy="777240"/>
          </a:xfrm>
          <a:prstGeom prst="rect">
            <a:avLst/>
          </a:prstGeom>
          <a:solidFill>
            <a:srgbClr val="0C102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86016" y="4315968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31736" y="4599432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</a:t>
            </a:r>
            <a:endParaRPr lang="en-US" sz="12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912"/>
          </a:solidFill>
          <a:ln w="12700">
            <a:solidFill>
              <a:srgbClr val="06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ДАННЫЕ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Ключевые цифры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2743200" cy="3566160"/>
          </a:xfrm>
          <a:prstGeom prst="rect">
            <a:avLst/>
          </a:prstGeom>
          <a:solidFill>
            <a:srgbClr val="0C102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выбрали IT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сферу №1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3035808"/>
            <a:ext cx="146304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127248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половины опрошенных считают IT лучшей возможностью для карьеры в России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1280160"/>
            <a:ext cx="2743200" cy="3566160"/>
          </a:xfrm>
          <a:prstGeom prst="rect">
            <a:avLst/>
          </a:prstGeom>
          <a:solidFill>
            <a:srgbClr val="0C102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4173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9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3.5/5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291840" y="23317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средняя оценка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возможностей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0480" y="3035808"/>
            <a:ext cx="1463040" cy="27432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3127248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Молодёжь в целом позитивно оценивает перспективы — выше среднего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1280160"/>
            <a:ext cx="2743200" cy="3566160"/>
          </a:xfrm>
          <a:prstGeom prst="rect">
            <a:avLst/>
          </a:prstGeom>
          <a:solidFill>
            <a:srgbClr val="0C1020"/>
          </a:solidFill>
          <a:ln w="12700">
            <a:solidFill>
              <a:srgbClr val="5A9E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4173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A9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126480" y="23317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 рассматривают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эмиграцию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0" y="3035808"/>
            <a:ext cx="1463040" cy="27432"/>
          </a:xfrm>
          <a:prstGeom prst="rect">
            <a:avLst/>
          </a:prstGeom>
          <a:solidFill>
            <a:srgbClr val="5A9E6E"/>
          </a:solidFill>
          <a:ln w="12700">
            <a:solidFill>
              <a:srgbClr val="5A9E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3127248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из четырёх связывают своё будущее с Россией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912"/>
          </a:solidFill>
          <a:ln w="12700">
            <a:solidFill>
              <a:srgbClr val="06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Предпочтения молодёжи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и технологии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34640" y="1353312"/>
            <a:ext cx="5029200" cy="274320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4640" y="1353312"/>
            <a:ext cx="2866644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92724" y="128016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965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Медицина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34640" y="2039112"/>
            <a:ext cx="5029200" cy="274320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4640" y="2039112"/>
            <a:ext cx="854964" cy="27432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81044" y="196596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651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 / торговля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34640" y="2724912"/>
            <a:ext cx="5029200" cy="274320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34640" y="2724912"/>
            <a:ext cx="653796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79876" y="265176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3375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Образование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834640" y="3410712"/>
            <a:ext cx="5029200" cy="274320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34640" y="3410712"/>
            <a:ext cx="402336" cy="274320"/>
          </a:xfrm>
          <a:prstGeom prst="rect">
            <a:avLst/>
          </a:prstGeom>
          <a:solidFill>
            <a:srgbClr val="5A9E6E"/>
          </a:solidFill>
          <a:ln w="12700">
            <a:solidFill>
              <a:srgbClr val="5A9E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28416" y="333756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4023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Другое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834640" y="4096512"/>
            <a:ext cx="5029200" cy="274320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34640" y="4096512"/>
            <a:ext cx="251460" cy="274320"/>
          </a:xfrm>
          <a:prstGeom prst="rect">
            <a:avLst/>
          </a:prstGeom>
          <a:solidFill>
            <a:srgbClr val="7A7E96"/>
          </a:solidFill>
          <a:ln w="12700">
            <a:solidFill>
              <a:srgbClr val="7A7E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77540" y="402336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Какую сферу вы считаете наиболее перспективной в России?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912"/>
          </a:solidFill>
          <a:ln w="12700">
            <a:solidFill>
              <a:srgbClr val="06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Россия или эмиграция?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4114800" cy="3566160"/>
          </a:xfrm>
          <a:prstGeom prst="rect">
            <a:avLst/>
          </a:prstGeom>
          <a:solidFill>
            <a:srgbClr val="0C1020"/>
          </a:solidFill>
          <a:ln w="12700">
            <a:solidFill>
              <a:srgbClr val="5A9E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5A9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 рассматривают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эмиграцию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737360" y="3035808"/>
            <a:ext cx="1371600" cy="27432"/>
          </a:xfrm>
          <a:prstGeom prst="rect">
            <a:avLst/>
          </a:prstGeom>
          <a:solidFill>
            <a:srgbClr val="5A9E6E"/>
          </a:solidFill>
          <a:ln w="12700">
            <a:solidFill>
              <a:srgbClr val="5A9E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127248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из четырёх опрошенных связывают своё будущее с Россией. Они верят в возможности внутри страны.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4114800" cy="3566160"/>
          </a:xfrm>
          <a:prstGeom prst="rect">
            <a:avLst/>
          </a:prstGeom>
          <a:solidFill>
            <a:srgbClr val="0C102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41732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892040" y="23317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Рассматривают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отъезд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3035808"/>
            <a:ext cx="1371600" cy="27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127248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четвёртый думает об эмиграции. Главная причина — региональное неравенство возможностей</a:t>
            </a:r>
            <a:r>
              <a:rPr lang="en-US" sz="11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912"/>
          </a:solidFill>
          <a:ln w="12700">
            <a:solidFill>
              <a:srgbClr val="06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БАРЬЕРЫ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Барьеры для реализации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8412480" cy="777240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80160"/>
            <a:ext cx="73152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258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Региональное неравенство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66420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Возможности сосредоточены в крупных городах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0" y="14173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42%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65760" y="2167128"/>
            <a:ext cx="8412480" cy="777240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67128"/>
            <a:ext cx="73152" cy="77724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21284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Недостаток информации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25511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Молодёжь не знает о государственных программах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0" y="230428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9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31%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65760" y="3054096"/>
            <a:ext cx="8412480" cy="777240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054096"/>
            <a:ext cx="73152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09981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ограничения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343814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 стартовый барьер для предпринимательства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0" y="3191256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18%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65760" y="3941064"/>
            <a:ext cx="8412480" cy="777240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941064"/>
            <a:ext cx="73152" cy="777240"/>
          </a:xfrm>
          <a:prstGeom prst="rect">
            <a:avLst/>
          </a:prstGeom>
          <a:solidFill>
            <a:srgbClr val="7A7E96"/>
          </a:solidFill>
          <a:ln w="12700">
            <a:solidFill>
              <a:srgbClr val="7A7E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98678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Другие причины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" y="432511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Бюрократия, связи, конкуренция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0" y="4078224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A7E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9%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912"/>
          </a:solidFill>
          <a:ln w="12700">
            <a:solidFill>
              <a:srgbClr val="06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Гипотеза подтверждена частично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8412480" cy="658368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80160"/>
            <a:ext cx="548640" cy="658368"/>
          </a:xfrm>
          <a:prstGeom prst="rect">
            <a:avLst/>
          </a:prstGeom>
          <a:solidFill>
            <a:srgbClr val="5A9E6E"/>
          </a:solidFill>
          <a:ln w="12700">
            <a:solidFill>
              <a:srgbClr val="5A9E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8016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141732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Россия предоставляет возможности — молодёжь это признаёт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029968"/>
            <a:ext cx="8412480" cy="658368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029968"/>
            <a:ext cx="548640" cy="658368"/>
          </a:xfrm>
          <a:prstGeom prst="rect">
            <a:avLst/>
          </a:prstGeom>
          <a:solidFill>
            <a:srgbClr val="5A9E6E"/>
          </a:solidFill>
          <a:ln w="12700">
            <a:solidFill>
              <a:srgbClr val="5A9E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029968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2167128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 оценка возможностей — 3.5 из 5 (позитивно)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779776"/>
            <a:ext cx="8412480" cy="658368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779776"/>
            <a:ext cx="548640" cy="658368"/>
          </a:xfrm>
          <a:prstGeom prst="rect">
            <a:avLst/>
          </a:prstGeom>
          <a:solidFill>
            <a:srgbClr val="5A9E6E"/>
          </a:solidFill>
          <a:ln w="12700">
            <a:solidFill>
              <a:srgbClr val="5A9E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79776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2916936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IT-сфера воспринимается как наиболее доступная и перспективная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529584"/>
            <a:ext cx="8412480" cy="658368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529584"/>
            <a:ext cx="54864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29584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51560" y="3666744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Доступность возможностей неравномерна по регионам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279392"/>
            <a:ext cx="8412480" cy="658368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279392"/>
            <a:ext cx="54864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279392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51560" y="4416552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Информированность о государственных программах остаётся низкой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912"/>
          </a:solidFill>
          <a:ln w="12700">
            <a:solidFill>
              <a:srgbClr val="06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Рекомендации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2651760" cy="3474720"/>
          </a:xfrm>
          <a:prstGeom prst="rect">
            <a:avLst/>
          </a:prstGeom>
          <a:solidFill>
            <a:srgbClr val="0C102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71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1143000" y="2148840"/>
            <a:ext cx="10972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40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IT-хабы в регионах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83464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образовательных IT-центров за пределами крупных городов для выравнивания доступа к возможностям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280160"/>
            <a:ext cx="2651760" cy="3474720"/>
          </a:xfrm>
          <a:prstGeom prst="rect">
            <a:avLst/>
          </a:prstGeom>
          <a:solidFill>
            <a:srgbClr val="0C102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371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9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4023360" y="2148840"/>
            <a:ext cx="1097280" cy="36576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240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Информирование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283464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Активное продвижение государственных программ и грантов среди молодёжи через социальные сети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280160"/>
            <a:ext cx="2651760" cy="3474720"/>
          </a:xfrm>
          <a:prstGeom prst="rect">
            <a:avLst/>
          </a:prstGeom>
          <a:solidFill>
            <a:srgbClr val="0C1020"/>
          </a:solidFill>
          <a:ln w="12700">
            <a:solidFill>
              <a:srgbClr val="5A9E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371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A9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6903720" y="2148840"/>
            <a:ext cx="1097280" cy="36576"/>
          </a:xfrm>
          <a:prstGeom prst="rect">
            <a:avLst/>
          </a:prstGeom>
          <a:solidFill>
            <a:srgbClr val="5A9E6E"/>
          </a:solidFill>
          <a:ln w="12700">
            <a:solidFill>
              <a:srgbClr val="5A9E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2240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Поддержка бизнеса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283464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грантовых программ и снижение барьеров для молодых предпринимателей до 25 лет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912"/>
          </a:solidFill>
          <a:ln w="12700">
            <a:solidFill>
              <a:srgbClr val="06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 за внимание!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Россия — Страна Возможностей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200400" y="2788920"/>
            <a:ext cx="27432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9260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Эргашов Амирхон Зоирович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Мансуров Бахтиёр Абдурозикович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3657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7A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П-118  ·  ОРГ  ·  Тюменский государственный университет  ·  2026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466</Words>
  <Application>Microsoft Office PowerPoint</Application>
  <PresentationFormat>Экран (16:9)</PresentationFormat>
  <Paragraphs>133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Россия — Страна Возможностей</dc:title>
  <dc:subject>PptxGenJS Presentation</dc:subject>
  <dc:creator>Эргашов А.З., Мансуров Б.А.</dc:creator>
  <cp:lastModifiedBy>тоха</cp:lastModifiedBy>
  <cp:revision>5</cp:revision>
  <dcterms:created xsi:type="dcterms:W3CDTF">2026-06-05T20:50:37Z</dcterms:created>
  <dcterms:modified xsi:type="dcterms:W3CDTF">2026-06-08T18:31:22Z</dcterms:modified>
</cp:coreProperties>
</file>